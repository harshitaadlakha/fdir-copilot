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dPt>
            <c:idx val="0"/>
            <c:spPr>
              <a:solidFill>
                <a:srgbClr val="E5484D"/>
              </a:solidFill>
            </c:spPr>
          </c:dPt>
          <c:dPt>
            <c:idx val="1"/>
            <c:spPr>
              <a:solidFill>
                <a:srgbClr val="A9A8FB"/>
              </a:solidFill>
            </c:spPr>
          </c:dPt>
          <c:dPt>
            <c:idx val="2"/>
            <c:spPr>
              <a:solidFill>
                <a:srgbClr val="7F7EF9"/>
              </a:solidFill>
            </c:spPr>
          </c:dPt>
          <c:dPt>
            <c:idx val="3"/>
            <c:spPr>
              <a:solidFill>
                <a:srgbClr val="12A46B"/>
              </a:solidFill>
            </c:spPr>
          </c:dPt>
          <c:cat>
            <c:strRef>
              <c:f>Sheet1!$A$2:$A$5</c:f>
              <c:strCache>
                <c:ptCount val="4"/>
                <c:pt idx="0">
                  <c:v>Limit-check console</c:v>
                </c:pt>
                <c:pt idx="1">
                  <c:v>Causal model only</c:v>
                </c:pt>
                <c:pt idx="2">
                  <c:v>Memory only</c:v>
                </c:pt>
                <c:pt idx="3">
                  <c:v>Causal + memory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32.3</c:v>
                </c:pt>
                <c:pt idx="1">
                  <c:v>75.3</c:v>
                </c:pt>
                <c:pt idx="2">
                  <c:v>86.7</c:v>
                </c:pt>
                <c:pt idx="3">
                  <c:v>93.0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6F6A5F"/>
                </a:solidFill>
              </a:rPr>
              <a:t>Accuracy per block of 50 passes (memory grows online)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 (causal + memory)</c:v>
                </c:pt>
              </c:strCache>
            </c:strRef>
          </c:tx>
          <c:spPr>
            <a:ln w="31750">
              <a:solidFill>
                <a:srgbClr val="12A46B"/>
              </a:solidFill>
            </a:ln>
          </c:spPr>
          <c:marker>
            <c:spPr>
              <a:solidFill>
                <a:srgbClr val="12A46B"/>
              </a:solidFill>
              <a:ln>
                <a:solidFill>
                  <a:srgbClr val="12A46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1-50</c:v>
                </c:pt>
                <c:pt idx="1">
                  <c:v>51-100</c:v>
                </c:pt>
                <c:pt idx="2">
                  <c:v>101-150</c:v>
                </c:pt>
                <c:pt idx="3">
                  <c:v>151-200</c:v>
                </c:pt>
                <c:pt idx="4">
                  <c:v>201-250</c:v>
                </c:pt>
                <c:pt idx="5">
                  <c:v>251-300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76.0</c:v>
                </c:pt>
                <c:pt idx="1">
                  <c:v>86.0</c:v>
                </c:pt>
                <c:pt idx="2">
                  <c:v>98.0</c:v>
                </c:pt>
                <c:pt idx="3">
                  <c:v>98.0</c:v>
                </c:pt>
                <c:pt idx="4">
                  <c:v>100.0</c:v>
                </c:pt>
                <c:pt idx="5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Causal only</c:v>
                </c:pt>
              </c:strCache>
            </c:strRef>
          </c:tx>
          <c:spPr>
            <a:ln w="31750">
              <a:solidFill>
                <a:srgbClr val="5B5BF7"/>
              </a:solidFill>
            </a:ln>
          </c:spPr>
          <c:marker>
            <c:spPr>
              <a:solidFill>
                <a:srgbClr val="5B5BF7"/>
              </a:solidFill>
              <a:ln>
                <a:solidFill>
                  <a:srgbClr val="5B5BF7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1-50</c:v>
                </c:pt>
                <c:pt idx="1">
                  <c:v>51-100</c:v>
                </c:pt>
                <c:pt idx="2">
                  <c:v>101-150</c:v>
                </c:pt>
                <c:pt idx="3">
                  <c:v>151-200</c:v>
                </c:pt>
                <c:pt idx="4">
                  <c:v>201-250</c:v>
                </c:pt>
                <c:pt idx="5">
                  <c:v>251-300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72.0</c:v>
                </c:pt>
                <c:pt idx="1">
                  <c:v>68.0</c:v>
                </c:pt>
                <c:pt idx="2">
                  <c:v>82.0</c:v>
                </c:pt>
                <c:pt idx="3">
                  <c:v>78.0</c:v>
                </c:pt>
                <c:pt idx="4">
                  <c:v>82.0</c:v>
                </c:pt>
                <c:pt idx="5">
                  <c:v>70.0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Limit-check console</c:v>
                </c:pt>
              </c:strCache>
            </c:strRef>
          </c:tx>
          <c:spPr>
            <a:ln w="31750">
              <a:solidFill>
                <a:srgbClr val="E5484D"/>
              </a:solidFill>
            </a:ln>
          </c:spPr>
          <c:marker>
            <c:spPr>
              <a:solidFill>
                <a:srgbClr val="E5484D"/>
              </a:solidFill>
              <a:ln>
                <a:solidFill>
                  <a:srgbClr val="E5484D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1-50</c:v>
                </c:pt>
                <c:pt idx="1">
                  <c:v>51-100</c:v>
                </c:pt>
                <c:pt idx="2">
                  <c:v>101-150</c:v>
                </c:pt>
                <c:pt idx="3">
                  <c:v>151-200</c:v>
                </c:pt>
                <c:pt idx="4">
                  <c:v>201-250</c:v>
                </c:pt>
                <c:pt idx="5">
                  <c:v>251-300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34.0</c:v>
                </c:pt>
                <c:pt idx="1">
                  <c:v>28.0</c:v>
                </c:pt>
                <c:pt idx="2">
                  <c:v>30.0</c:v>
                </c:pt>
                <c:pt idx="3">
                  <c:v>26.0</c:v>
                </c:pt>
                <c:pt idx="4">
                  <c:v>34.0</c:v>
                </c:pt>
                <c:pt idx="5">
                  <c:v>42.0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FECE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ACCEL AI INNOVATE PARIS · FUTURE FOUNDERS · 22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5B5BF7"/>
                </a:solidFill>
                <a:latin typeface="Segoe UI"/>
              </a:rPr>
              <a:t>FDIR </a:t>
            </a:r>
            <a:r>
              <a:rPr sz="4000" b="1" i="0">
                <a:solidFill>
                  <a:srgbClr val="1D1B16"/>
                </a:solidFill>
                <a:latin typeface="Segoe UI"/>
              </a:rPr>
              <a:t>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An AI flight controller that finds the root cause of small-satellite anomalies, and learns from every incident.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WHO IT'S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D1B16"/>
                </a:solidFill>
                <a:latin typeface="Segoe UI"/>
              </a:rPr>
              <a:t>NewSpace start-ups and university CubeSat teams: 2 to 5 operators flying many spacecraft, with no 24/7 flight-controller bench.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4787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D1B16"/>
                </a:solidFill>
                <a:latin typeface="Segoe UI"/>
              </a:rPr>
              <a:t>Consoles alarm on limit violations: symptoms (battery temperature), not causes (a degrading solar array). Half of faults never cross a limit at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WHY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D1B16"/>
                </a:solidFill>
                <a:latin typeface="Segoe UI"/>
              </a:rPr>
              <a:t>Thousands of small-sat launches a year, flat ops headcount, and agents that can reason over telemetry plus a causal model of the vehicle.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ROUTE TO FIRST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59552"/>
            <a:ext cx="576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D1B16"/>
                </a:solidFill>
                <a:latin typeface="Segoe UI"/>
              </a:rPr>
              <a:t>Free tier for CubeSat teams (YAMCS / OpenMCT / CCSDS importers) → paid pilots with 3 NewSpace operators, per spacecraft per month → SmallSat Conference, LibreCube, launch brokers.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777240"/>
            <a:ext cx="1600200" cy="141732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9525">
            <a:solidFill>
              <a:srgbClr val="E3F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914400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2A46B"/>
                </a:solidFill>
                <a:latin typeface="Segoe UI"/>
              </a:rPr>
              <a:t>93%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45919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root-cause accuracy vs 32% limit-check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777240"/>
            <a:ext cx="1600200" cy="14173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914400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5484D"/>
                </a:solidFill>
                <a:latin typeface="Segoe UI"/>
              </a:rPr>
              <a:t>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1645919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of faults never alarm on a classic console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777240"/>
            <a:ext cx="1600200" cy="1417320"/>
          </a:xfrm>
          <a:prstGeom prst="roundRect">
            <a:avLst>
              <a:gd name="adj" fmla="val 8000"/>
            </a:avLst>
          </a:prstGeom>
          <a:solidFill>
            <a:srgbClr val="ECEBFF"/>
          </a:solidFill>
          <a:ln w="9525">
            <a:solidFill>
              <a:srgbClr val="EC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914400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5B5BF7"/>
                </a:solidFill>
                <a:latin typeface="Segoe UI"/>
              </a:rPr>
              <a:t>70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645919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median detection vs 450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3317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D1B16"/>
                </a:solidFill>
                <a:latin typeface="Segoe UI"/>
              </a:rPr>
              <a:t>Learning from memory: </a:t>
            </a:r>
            <a:r>
              <a:rPr sz="1250" b="1" i="0">
                <a:solidFill>
                  <a:srgbClr val="12A46B"/>
                </a:solidFill>
                <a:latin typeface="Segoe UI"/>
              </a:rPr>
              <a:t>76% → 100%</a:t>
            </a:r>
            <a:r>
              <a:rPr sz="1250" b="0" i="0">
                <a:solidFill>
                  <a:srgbClr val="1D1B16"/>
                </a:solidFill>
                <a:latin typeface="Segoe UI"/>
              </a:rPr>
              <a:t> accuracy as closed incidents accumulate.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788920"/>
            <a:ext cx="49834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9260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HOW THE AGENT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24612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Telemetry downlink → Aiven PostgreSQL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① Detect: orbit-aware residuals (eclipse ephemeris)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② Isolate: backtrack a system-dynamics causal graph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③ Recall: kNN over incident memory in Aiven PostgreSQL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④ Fuse evidence  ⑤ Recommend recovery + briefing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Operator closes incident → memory → next pass is smarter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6636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POINT OF DIFFERENCE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422392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D1B16"/>
                </a:solidFill>
                <a:latin typeface="Segoe UI"/>
              </a:rPr>
              <a:t>Built on aerospace systems engineering (FDIR, FMEA, system dynamics). It explains why, with a traceable causal chain, and runs on Aiven Runtime.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Consoles alarm on symptoms. Operators need causes.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Small-sat ops teams lose hours per anomaly on manual telemetry forensics.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66751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A DEGRADING SOLAR ARRAY, AS THE CONSOLE SEES 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97480"/>
            <a:ext cx="2377440" cy="502920"/>
          </a:xfrm>
          <a:prstGeom prst="roundRect">
            <a:avLst>
              <a:gd name="adj" fmla="val 25000"/>
            </a:avLst>
          </a:prstGeom>
          <a:solidFill>
            <a:srgbClr val="ECEBFF"/>
          </a:solidFill>
          <a:ln w="9525">
            <a:solidFill>
              <a:srgbClr val="EC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07208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B5BF7"/>
                </a:solidFill>
                <a:latin typeface="Consolas"/>
              </a:rPr>
              <a:t>sa_current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163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Consolas"/>
              </a:rPr>
              <a:t>+160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16352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Segoe UI"/>
              </a:rPr>
              <a:t>root cause, masked in eclipse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55848"/>
            <a:ext cx="2377440" cy="502920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9525">
            <a:solidFill>
              <a:srgbClr val="F3C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6557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bus_voltage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4747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Consolas"/>
              </a:rPr>
              <a:t>+450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4747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Segoe UI"/>
              </a:rPr>
              <a:t>in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14216"/>
            <a:ext cx="2377440" cy="502920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9525">
            <a:solidFill>
              <a:srgbClr val="F3C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12394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batt_soc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33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Consolas"/>
              </a:rPr>
              <a:t>+800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13308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Segoe UI"/>
              </a:rPr>
              <a:t>in limits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72584"/>
            <a:ext cx="2377440" cy="502920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9525">
            <a:solidFill>
              <a:srgbClr val="F3C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78231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batt_voltage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79145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Consolas"/>
              </a:rPr>
              <a:t>+2990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791456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Segoe UI"/>
              </a:rPr>
              <a:t>in limits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30952"/>
            <a:ext cx="2377440" cy="502920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9525">
            <a:solidFill>
              <a:srgbClr val="F3C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44068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batt_temp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44982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Consolas"/>
              </a:rPr>
              <a:t>+4250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449824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F6A5F"/>
                </a:solidFill>
                <a:latin typeface="Segoe UI"/>
              </a:rPr>
              <a:t>first thing an operator notices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2103120"/>
            <a:ext cx="4069080" cy="17830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240279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5484D"/>
                </a:solidFill>
                <a:latin typeface="Segoe UI"/>
              </a:rPr>
              <a:t>49.7%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97180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of injected faults never cross a single hard limit. A limit-check console stays silent while the spacecraft drifts toward safe mode.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4069080"/>
            <a:ext cx="40690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4206240"/>
            <a:ext cx="3703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5484D"/>
                </a:solidFill>
                <a:latin typeface="Segoe UI"/>
              </a:rPr>
              <a:t>32%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937760"/>
            <a:ext cx="37033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root-cause accuracy when you blame the subsystem of the first alarm, which is what a limit-check console effectively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A 5-step agent that reasons like a flight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Deterministic, traceable core. The LLM only writes the human briefing.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1B16"/>
                </a:solidFill>
                <a:latin typeface="Segoe UI"/>
              </a:rP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8803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Orbit-aware residuals, eclipse-conditioned baselines, persistence 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05740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1B16"/>
                </a:solidFill>
                <a:latin typeface="Segoe UI"/>
              </a:rPr>
              <a:t>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8803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Backtrack the spacecraft's causal graph: root, sign, precedence,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5740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1B16"/>
                </a:solidFill>
                <a:latin typeface="Segoe UI"/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28803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kNN over closed incidents stored in Aiven PostgreSQL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05740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1B16"/>
                </a:solidFill>
                <a:latin typeface="Segoe UI"/>
              </a:rPr>
              <a:t>Fuse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28803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Combine causal and memory evidence; confidence from the margin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057400"/>
            <a:ext cx="2103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57232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24688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D1B16"/>
                </a:solidFill>
                <a:latin typeface="Segoe UI"/>
              </a:rPr>
              <a:t>Recommend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8803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Recovery procedure and operator briefing; full trace logged</a:t>
            </a:r>
          </a:p>
        </p:txBody>
      </p:sp>
      <p:pic>
        <p:nvPicPr>
          <p:cNvPr id="29" name="Picture 28" descr="app.png"/>
          <p:cNvPicPr>
            <a:picLocks noChangeAspect="1"/>
          </p:cNvPicPr>
          <p:nvPr/>
        </p:nvPicPr>
        <p:blipFill>
          <a:blip r:embed="rId2"/>
          <a:srcRect t="19000" b="62000"/>
          <a:stretch>
            <a:fillRect/>
          </a:stretch>
        </p:blipFill>
        <p:spPr>
          <a:xfrm>
            <a:off x="548640" y="4023360"/>
            <a:ext cx="11109960" cy="2286000"/>
          </a:xfrm>
          <a:prstGeom prst="rect">
            <a:avLst/>
          </a:prstGeom>
          <a:ln>
            <a:solidFill>
              <a:srgbClr val="E8E5DE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DATA AT THE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Aiven PostgreSQL: the agent's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Without the stored telemetry, ephemeris grounding and incident memory, the agent cannot diagnose anything.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1B16"/>
                </a:solidFill>
                <a:latin typeface="Segoe UI"/>
              </a:rPr>
              <a:t>Downlink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13 channels · 10 s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9,360 rows / pass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78608" y="2697480"/>
            <a:ext cx="237744" cy="228600"/>
          </a:xfrm>
          <a:prstGeom prst="rightArrow">
            <a:avLst/>
          </a:prstGeom>
          <a:solidFill>
            <a:srgbClr val="C9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1488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CEB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1B16"/>
                </a:solidFill>
                <a:latin typeface="Consolas"/>
              </a:rPr>
              <a:t>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6974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Aiven PostgreSQL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passes · telemetry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4608" y="2697480"/>
            <a:ext cx="237744" cy="228600"/>
          </a:xfrm>
          <a:prstGeom prst="rightArrow">
            <a:avLst/>
          </a:prstGeom>
          <a:solidFill>
            <a:srgbClr val="C9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1488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1B16"/>
                </a:solidFill>
                <a:latin typeface="Segoe UI"/>
              </a:rPr>
              <a:t>FDIR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detect → isolate →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recall → fuse → recommend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50608" y="2697480"/>
            <a:ext cx="237744" cy="228600"/>
          </a:xfrm>
          <a:prstGeom prst="rightArrow">
            <a:avLst/>
          </a:prstGeom>
          <a:solidFill>
            <a:srgbClr val="C9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0" y="21488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CEB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1B16"/>
                </a:solidFill>
                <a:latin typeface="Consolas"/>
              </a:rPr>
              <a:t>agent_runs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974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Aiven PostgreSQL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audit trail + latency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36608" y="2697480"/>
            <a:ext cx="237744" cy="228600"/>
          </a:xfrm>
          <a:prstGeom prst="rightArrow">
            <a:avLst/>
          </a:prstGeom>
          <a:solidFill>
            <a:srgbClr val="C9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2148840"/>
            <a:ext cx="2011680" cy="132588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D1B16"/>
                </a:solidFill>
                <a:latin typeface="Consolas"/>
              </a:rPr>
              <a:t>incidents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697480"/>
            <a:ext cx="1737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Aiven PostgreSQL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long-term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118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2A46B"/>
                </a:solidFill>
                <a:latin typeface="Segoe UI"/>
              </a:rPr>
              <a:t>↺  Operator closes the incident → confirmed root cause written to incidents → the next pass is diagnosed with more memory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48640" y="4069080"/>
          <a:ext cx="11109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8006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6A5F"/>
                          </a:solidFill>
                          <a:latin typeface="Segoe UI"/>
                        </a:rPr>
                        <a:t>Data</a:t>
                      </a:r>
                    </a:p>
                  </a:txBody>
                  <a:tcPr marT="36576" marB="36576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6A5F"/>
                          </a:solidFill>
                          <a:latin typeface="Segoe UI"/>
                        </a:rPr>
                        <a:t>Where it lives</a:t>
                      </a:r>
                    </a:p>
                  </a:txBody>
                  <a:tcPr marT="36576" marB="36576">
                    <a:solidFill>
                      <a:srgbClr val="EF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6F6A5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T="36576" marB="36576">
                    <a:solidFill>
                      <a:srgbClr val="EFEC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Telemetry passes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Aiven PostgreSQL · passes, telemetry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Raw evidence queried on every run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Orbit ephemeris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Derived per pass (eclipse / sunlit)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Grounds baselines; 0 A solar current in eclipse is nominal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Causal model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Gains + transport delays (system dynamics)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Separates causes from symptoms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Incident memory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Aiven PostgreSQL · incidents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kNN recall; grows with every closed incident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Agent run log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Aiven PostgreSQL · agent_runs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D1B16"/>
                          </a:solidFill>
                          <a:latin typeface="Segoe UI"/>
                        </a:rPr>
                        <a:t>Audit trail for flight-safety review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EVIDENCE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Root-cause accuracy: 93% vs 32%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300 fault-injected passes · 6 fault classes · random onset, severity and orbit phase · memory starts empty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011680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92240" y="2011680"/>
          <a:ext cx="516636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50292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9525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E5484D"/>
                </a:solidFill>
                <a:latin typeface="Segoe UI"/>
              </a:rPr>
              <a:t>49.7%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80"/>
            <a:ext cx="22860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faults the console never alarms; the agent flags them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0292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ECEBFF"/>
          </a:solidFill>
          <a:ln w="9525">
            <a:solidFill>
              <a:srgbClr val="EC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1663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5B5BF7"/>
                </a:solidFill>
                <a:latin typeface="Segoe UI"/>
              </a:rPr>
              <a:t>70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897880"/>
            <a:ext cx="22860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median detection delay vs 450 s for the console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5029200"/>
            <a:ext cx="26517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16636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D1B16"/>
                </a:solidFill>
                <a:latin typeface="Segoe UI"/>
              </a:rPr>
              <a:t>4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97880"/>
            <a:ext cx="228600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median compute per diagnosis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502920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9525">
            <a:solidFill>
              <a:srgbClr val="E3F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516636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2A46B"/>
                </a:solidFill>
                <a:latin typeface="Segoe UI"/>
              </a:rPr>
              <a:t>76→100%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897880"/>
            <a:ext cx="2240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F6A5F"/>
                </a:solidFill>
                <a:latin typeface="Segoe UI"/>
              </a:rPr>
              <a:t>agent accuracy as incident memory fills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Live app on Aiven Runtime, plus a public replay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The console stays silent; the agent names the root cause, cites its memory and gives the recovery procedure.</a:t>
            </a:r>
          </a:p>
        </p:txBody>
      </p:sp>
      <p:pic>
        <p:nvPicPr>
          <p:cNvPr id="9" name="Picture 8" descr="replay.png"/>
          <p:cNvPicPr>
            <a:picLocks noChangeAspect="1"/>
          </p:cNvPicPr>
          <p:nvPr/>
        </p:nvPicPr>
        <p:blipFill>
          <a:blip r:embed="rId2"/>
          <a:srcRect b="42000"/>
          <a:stretch>
            <a:fillRect/>
          </a:stretch>
        </p:blipFill>
        <p:spPr>
          <a:xfrm>
            <a:off x="548640" y="2011680"/>
            <a:ext cx="6949440" cy="4206240"/>
          </a:xfrm>
          <a:prstGeom prst="rect">
            <a:avLst/>
          </a:prstGeom>
          <a:ln>
            <a:solidFill>
              <a:srgbClr val="E8E5DE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772400" y="2011680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1214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B5BF7"/>
                </a:solidFill>
                <a:latin typeface="Consolas"/>
              </a:rPr>
              <a:t>REPLAY (GITHUB PAGES)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3957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1B16"/>
                </a:solidFill>
                <a:latin typeface="Segoe UI"/>
              </a:rPr>
              <a:t>parasadlakha.github.io/fdir-copilot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035808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14553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B5BF7"/>
                </a:solidFill>
                <a:latin typeface="Consolas"/>
              </a:rPr>
              <a:t>SOURCE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4198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1B16"/>
                </a:solidFill>
                <a:latin typeface="Segoe UI"/>
              </a:rPr>
              <a:t>github.com/ParasAdlakha/fdir-copilot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059936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1696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B5BF7"/>
                </a:solidFill>
                <a:latin typeface="Consolas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4439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1B16"/>
                </a:solidFill>
                <a:latin typeface="Segoe UI"/>
              </a:rPr>
              <a:t>Aiven for PostgreSQL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084064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19379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5B5BF7"/>
                </a:solidFill>
                <a:latin typeface="Consolas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681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1B16"/>
                </a:solidFill>
                <a:latin typeface="Segoe UI"/>
              </a:rPr>
              <a:t>Aiven Runtime · Dockerfile · port 8080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2011680"/>
            <a:ext cx="5486400" cy="3840480"/>
          </a:xfrm>
          <a:prstGeom prst="ellipse">
            <a:avLst/>
          </a:prstGeom>
          <a:solidFill>
            <a:srgbClr val="E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108960" cy="2743200"/>
          </a:xfrm>
          <a:prstGeom prst="ellipse">
            <a:avLst/>
          </a:prstGeom>
          <a:solidFill>
            <a:srgbClr val="E3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B5BF7"/>
                </a:solidFill>
                <a:latin typeface="Consolas"/>
              </a:rPr>
              <a:t>GO-TO-MARKET · ROADMAP ·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Segoe UI"/>
              </a:rPr>
              <a:t>FDIR Copilot  ·  Paras Adlakha &amp; Harshita Adlakha  ·  Accel AI Innovate Paris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6F6A5F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D1B16"/>
                </a:solidFill>
                <a:latin typeface="Segoe UI"/>
              </a:rPr>
              <a:t>From CubeSat teams to NewSpace fleets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ROUTE TO FIRST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3108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Free tier for university CubeSat teams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Open-source importers: YAMCS, OpenMCT, CCSDS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Paid pilots with 3 seed-stage NewSpace operators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Priced per spacecraft per month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SmallSat Conference, LibreCube, launch brokers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148840"/>
            <a:ext cx="3108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Validate on NASA SMAP / MSL telemetry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Learn causal gains and delays from fleet data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Streaming via Aiven for Apache Kafka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Long-horizon trends in Aiven for ClickHouse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Fleet memory: satellite A pre-warns satellite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0020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148840"/>
            <a:ext cx="31089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Paras Adlakha: aerospace, systems engineering, system dynamics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Harshita Adlakha: co-builder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D1B16"/>
                </a:solidFill>
                <a:latin typeface="Segoe UI"/>
              </a:rPr>
              <a:t>•  Built in one day at the hackathon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74920"/>
            <a:ext cx="11018520" cy="1143000"/>
          </a:xfrm>
          <a:prstGeom prst="roundRect">
            <a:avLst>
              <a:gd name="adj" fmla="val 8000"/>
            </a:avLst>
          </a:prstGeom>
          <a:solidFill>
            <a:srgbClr val="ECEBFF"/>
          </a:solidFill>
          <a:ln w="9525">
            <a:solidFill>
              <a:srgbClr val="ECE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303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B5BF7"/>
                </a:solidFill>
                <a:latin typeface="Consolas"/>
              </a:rPr>
              <a:t>BUILT AT ACCEL AI INNOVATE PARIS · FUTURE FOUNDERS · 22 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5040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F6A5F"/>
                </a:solidFill>
                <a:latin typeface="Segoe UI"/>
              </a:rPr>
              <a:t>Partners: </a:t>
            </a:r>
            <a:r>
              <a:rPr sz="1500" b="1" i="0">
                <a:solidFill>
                  <a:srgbClr val="1D1B16"/>
                </a:solidFill>
                <a:latin typeface="Segoe UI"/>
              </a:rPr>
              <a:t>Aiven  ·  Lovable  ·  Hackathon Hub  ·  Iterate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